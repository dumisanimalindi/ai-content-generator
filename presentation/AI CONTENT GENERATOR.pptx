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302" r:id="rId6"/>
    <p:sldId id="303" r:id="rId7"/>
    <p:sldId id="304" r:id="rId8"/>
    <p:sldId id="305" r:id="rId9"/>
    <p:sldId id="312" r:id="rId10"/>
    <p:sldId id="310" r:id="rId11"/>
    <p:sldId id="31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3595" autoAdjust="0"/>
  </p:normalViewPr>
  <p:slideViewPr>
    <p:cSldViewPr snapToGrid="0">
      <p:cViewPr varScale="1">
        <p:scale>
          <a:sx n="87" d="100"/>
          <a:sy n="87" d="100"/>
        </p:scale>
        <p:origin x="696" y="78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591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6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abopen.fi/en/lab-pro/testing-the-reliability-of-ai-detectors-having-to-prove-a-negative-and-gaming-ai-detector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plutopia.io/e-patients-and-ai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www.enago.com/academy/responsible-use-of-generative-a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Dumisani.Malindi@capaciti.org.za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72AEF849-A5FD-F36A-EE7B-563BB8413CB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520" r="284" b="1"/>
          <a:stretch>
            <a:fillRect/>
          </a:stretch>
        </p:blipFill>
        <p:spPr>
          <a:xfrm>
            <a:off x="1524" y="10"/>
            <a:ext cx="12188952" cy="6857990"/>
          </a:xfr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636008"/>
            <a:ext cx="9144000" cy="1107959"/>
          </a:xfrm>
        </p:spPr>
        <p:txBody>
          <a:bodyPr anchor="b">
            <a:normAutofit/>
          </a:bodyPr>
          <a:lstStyle/>
          <a:p>
            <a:r>
              <a:rPr lang="en-US" sz="5600"/>
              <a:t>AI CONTENT GENERATOR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5742432"/>
            <a:ext cx="2243475" cy="457200"/>
          </a:xfrm>
        </p:spPr>
        <p:txBody>
          <a:bodyPr>
            <a:noAutofit/>
          </a:bodyPr>
          <a:lstStyle/>
          <a:p>
            <a:r>
              <a:rPr lang="en-US" sz="2000" dirty="0"/>
              <a:t>Dumisani Malindi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D5C1227-B33D-348B-A8F2-81404D15BEE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8190" r="28191"/>
          <a:stretch>
            <a:fillRect/>
          </a:stretch>
        </p:blipFill>
        <p:spPr>
          <a:xfrm>
            <a:off x="933630" y="548640"/>
            <a:ext cx="4389120" cy="576072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674" y="271887"/>
            <a:ext cx="5103007" cy="1325563"/>
          </a:xfrm>
        </p:spPr>
        <p:txBody>
          <a:bodyPr anchor="ctr">
            <a:normAutofit/>
          </a:bodyPr>
          <a:lstStyle/>
          <a:p>
            <a:r>
              <a:rPr lang="en-US" sz="4100" dirty="0"/>
              <a:t>INTRO AND PROJECT CONTEXT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E9F226BA-0D95-E7AD-632D-F47ABDA9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6363A03-E425-4DF0-A245-F0EEE2D04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3182" y="2093976"/>
            <a:ext cx="5120640" cy="320040"/>
          </a:xfrm>
        </p:spPr>
        <p:txBody>
          <a:bodyPr>
            <a:normAutofit/>
          </a:bodyPr>
          <a:lstStyle/>
          <a:p>
            <a:r>
              <a:rPr lang="en-US" sz="1500"/>
              <a:t>PROJECT PURPOSE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80B2038-1B53-491E-BC2F-148E99EFDB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/>
          <a:p>
            <a:pPr marL="0" lvl="1"/>
            <a:r>
              <a:rPr lang="en-US" sz="1400"/>
              <a:t>The AI Content Generator helps users create professional content quickly for different platforms and audiences.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970A788-9414-4536-9C00-F0C8714580A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3307" y="3227832"/>
            <a:ext cx="5120640" cy="320040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1500" b="1"/>
              <a:t>User Interface Design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178A14-FF95-463C-89E7-D71BB431EA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/>
          <a:p>
            <a:pPr marL="0" lvl="1"/>
            <a:r>
              <a:rPr lang="en-US" sz="1300"/>
              <a:t>The project uses full-stack development with </a:t>
            </a:r>
            <a:r>
              <a:rPr lang="en-US" sz="1300" err="1"/>
              <a:t>Streamlit</a:t>
            </a:r>
            <a:r>
              <a:rPr lang="en-US" sz="1300"/>
              <a:t> frontend, Python backend, API integration, and cloud deployment.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EF3428C-82C8-426A-8AA5-06D41239356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9167" y="4059936"/>
            <a:ext cx="5120640" cy="320040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1500" b="1"/>
              <a:t>Technical Implementation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F07FAC4-029F-4076-B784-683A1CCA68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/>
          <a:p>
            <a:pPr marL="0" lvl="1"/>
            <a:r>
              <a:rPr lang="en-US" sz="1400"/>
              <a:t>This production-ready application demonstrates real-world AI engineering and software development skills.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B76A604-CBAD-4494-A846-E4C833A609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49292" y="5202936"/>
            <a:ext cx="5120640" cy="320040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1500" b="1"/>
              <a:t>Learning and Application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845A907-CC82-47DD-86EC-58C44C2EA61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/>
          <a:p>
            <a:pPr marL="0" lvl="1"/>
            <a:r>
              <a:rPr lang="en-US" sz="1400"/>
              <a:t>A structured form guides users to specify content type, industry, audience, tone, and goals for precise AI output.</a:t>
            </a:r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363" y="365125"/>
            <a:ext cx="5560387" cy="132556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pic>
        <p:nvPicPr>
          <p:cNvPr id="7" name="Picture Placeholder 6" descr="Man working on laptop sitting by the window">
            <a:extLst>
              <a:ext uri="{FF2B5EF4-FFF2-40B4-BE49-F238E27FC236}">
                <a16:creationId xmlns:a16="http://schemas.microsoft.com/office/drawing/2014/main" id="{32F765DF-EED6-463B-813A-9D13C1F84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3630" y="548640"/>
            <a:ext cx="4389120" cy="576072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3182" y="2093976"/>
            <a:ext cx="5120640" cy="32004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>
              <a:lnSpc>
                <a:spcPct val="100000"/>
              </a:lnSpc>
              <a:defRPr b="1"/>
            </a:pPr>
            <a:r>
              <a:rPr lang="en-US" dirty="0"/>
              <a:t>Challenges in Content Creation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Creating consistent high-quality content is time-consuming and mentally taxing for professionals across industries.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48019F-B471-48D3-A6AA-3F0B467240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53056" y="3331023"/>
            <a:ext cx="5120640" cy="320040"/>
          </a:xfrm>
        </p:spPr>
        <p:txBody>
          <a:bodyPr/>
          <a:lstStyle/>
          <a:p>
            <a:pPr lvl="0">
              <a:lnSpc>
                <a:spcPct val="100000"/>
              </a:lnSpc>
              <a:defRPr b="1"/>
            </a:pPr>
            <a:r>
              <a:rPr lang="en-US" dirty="0"/>
              <a:t>Limitations of Current AI Tools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B300A6A-6AD6-4D6C-85C5-FDF36EF1D3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53056" y="3691183"/>
            <a:ext cx="5120640" cy="457200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Vague inputs lead to unfocused, generic AI outputs, causing user frustration and distrust in AI writing tools.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03AC016-5A46-4B6E-943F-B9F46486290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33160" y="4548664"/>
            <a:ext cx="5120640" cy="320040"/>
          </a:xfrm>
        </p:spPr>
        <p:txBody>
          <a:bodyPr/>
          <a:lstStyle/>
          <a:p>
            <a:pPr lvl="0">
              <a:lnSpc>
                <a:spcPct val="100000"/>
              </a:lnSpc>
              <a:defRPr b="1"/>
            </a:pPr>
            <a:r>
              <a:rPr lang="en-US" dirty="0"/>
              <a:t>Structured AI Workflow Solution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0A43BEE-B04F-469B-9957-9AF5947E5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33160" y="4972447"/>
            <a:ext cx="5120640" cy="64008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/>
              <a:t>Guided workflows with clear inputs reduce cognitive load and improve AI-generated content quality and consistency.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BD1651FB-5427-4C2E-968C-077A5FC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photo of coins on a table&#10;">
            <a:extLst>
              <a:ext uri="{FF2B5EF4-FFF2-40B4-BE49-F238E27FC236}">
                <a16:creationId xmlns:a16="http://schemas.microsoft.com/office/drawing/2014/main" id="{A78432FC-7702-44D2-9799-5CC8D3D0C0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8" y="0"/>
            <a:ext cx="1218882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8957"/>
            <a:ext cx="4032504" cy="1325563"/>
          </a:xfrm>
        </p:spPr>
        <p:txBody>
          <a:bodyPr/>
          <a:lstStyle/>
          <a:p>
            <a:r>
              <a:rPr lang="en-US"/>
              <a:t>Solution Overview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B99E998-C381-396E-24C0-86486142177C}"/>
              </a:ext>
            </a:extLst>
          </p:cNvPr>
          <p:cNvSpPr txBox="1"/>
          <p:nvPr/>
        </p:nvSpPr>
        <p:spPr>
          <a:xfrm>
            <a:off x="5353050" y="858957"/>
            <a:ext cx="6286500" cy="465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500"/>
              </a:spcBef>
            </a:pPr>
            <a:r>
              <a:rPr lang="en-US" b="1">
                <a:solidFill>
                  <a:schemeClr val="bg1"/>
                </a:solidFill>
              </a:rPr>
              <a:t>User-Friendly Interface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</a:rPr>
              <a:t>An intuitive Streamlit interface guides users through content creation with simple, structured input forms.</a:t>
            </a:r>
          </a:p>
          <a:p>
            <a:pPr>
              <a:spcBef>
                <a:spcPts val="2500"/>
              </a:spcBef>
            </a:pPr>
            <a:r>
              <a:rPr lang="en-US" b="1">
                <a:solidFill>
                  <a:schemeClr val="bg1"/>
                </a:solidFill>
              </a:rPr>
              <a:t>Automated Prompt Construction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</a:rPr>
              <a:t>The app automatically builds high-quality prompts from validated user inputs to optimize AI content generation.</a:t>
            </a:r>
          </a:p>
          <a:p>
            <a:pPr>
              <a:spcBef>
                <a:spcPts val="2500"/>
              </a:spcBef>
            </a:pPr>
            <a:r>
              <a:rPr lang="en-US" b="1">
                <a:solidFill>
                  <a:schemeClr val="bg1"/>
                </a:solidFill>
              </a:rPr>
              <a:t>Reliable API Integration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</a:rPr>
              <a:t>Direct HTTP REST API calls to Groq's OpenAI-compatible endpoint ensure fast, stable content generation without SDK dependencies.</a:t>
            </a:r>
          </a:p>
          <a:p>
            <a:pPr>
              <a:spcBef>
                <a:spcPts val="2500"/>
              </a:spcBef>
            </a:pPr>
            <a:r>
              <a:rPr lang="en-US" b="1">
                <a:solidFill>
                  <a:schemeClr val="bg1"/>
                </a:solidFill>
              </a:rPr>
              <a:t>Deployment Ready Solution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>
                <a:solidFill>
                  <a:schemeClr val="bg1"/>
                </a:solidFill>
              </a:rPr>
              <a:t>Designed for local and cloud environments, the solution is robust, fast, and practical for enhancing productivity.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718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hoto of a man in a meeting&#10;">
            <a:extLst>
              <a:ext uri="{FF2B5EF4-FFF2-40B4-BE49-F238E27FC236}">
                <a16:creationId xmlns:a16="http://schemas.microsoft.com/office/drawing/2014/main" id="{31EB3F7E-46D2-4030-923F-5B334198CAE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28600" y="0"/>
            <a:ext cx="11961813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Deployment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6" y="1545019"/>
            <a:ext cx="5551328" cy="42195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2500"/>
              </a:spcBef>
            </a:pPr>
            <a:r>
              <a:rPr lang="en-US" b="1" dirty="0"/>
              <a:t>Seamless Cloud Hosting</a:t>
            </a:r>
          </a:p>
          <a:p>
            <a:pPr marL="0" lvl="1"/>
            <a:r>
              <a:rPr lang="en-US" sz="1800" dirty="0" err="1"/>
              <a:t>Streamlit</a:t>
            </a:r>
            <a:r>
              <a:rPr lang="en-US" sz="1800" dirty="0"/>
              <a:t> Community Cloud hosts applications directly from GitHub, ensuring consistent codebases locally and in the cloud.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Secure API Key Management</a:t>
            </a:r>
          </a:p>
          <a:p>
            <a:pPr marL="0" lvl="1"/>
            <a:r>
              <a:rPr lang="en-US" sz="1800" dirty="0"/>
              <a:t>API keys are securely managed using </a:t>
            </a:r>
            <a:r>
              <a:rPr lang="en-US" sz="1800" dirty="0" err="1"/>
              <a:t>Streamlit</a:t>
            </a:r>
            <a:r>
              <a:rPr lang="en-US" sz="1800" dirty="0"/>
              <a:t> Cloud secrets, aligning with best security practices.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Dependency and Project Structure</a:t>
            </a:r>
          </a:p>
          <a:p>
            <a:pPr marL="0" lvl="1"/>
            <a:r>
              <a:rPr lang="en-US" sz="1800" dirty="0"/>
              <a:t>Dependencies are managed via a requirements file, maintaining a clean and organized project structure.</a:t>
            </a:r>
          </a:p>
          <a:p>
            <a:pPr>
              <a:spcBef>
                <a:spcPts val="2500"/>
              </a:spcBef>
            </a:pPr>
            <a:r>
              <a:rPr lang="en-US" b="1" dirty="0"/>
              <a:t>Accessible Deployment</a:t>
            </a:r>
          </a:p>
          <a:p>
            <a:pPr marL="0" lvl="1"/>
            <a:r>
              <a:rPr lang="en-US" sz="1800" dirty="0"/>
              <a:t>Deployed applications are accessible through public URLs, facilitating easy sharing with stakeholders.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00243C5-63A8-41FD-AC5F-B82F3BE2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A26E79-BB71-489A-B65B-6FB9A794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7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ED1BA-8521-28B7-499F-F250DE1C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photo of a man in a meeting&#10;">
            <a:extLst>
              <a:ext uri="{FF2B5EF4-FFF2-40B4-BE49-F238E27FC236}">
                <a16:creationId xmlns:a16="http://schemas.microsoft.com/office/drawing/2014/main" id="{9B74E22E-98BE-B61B-7CE9-6AC6F720983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187" y="0"/>
            <a:ext cx="11961813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BF250E-16F3-6B3A-234D-0646FBF4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Prompt Engineering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6F19-34DD-9697-B67A-5D5DF941A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31" y="1961367"/>
            <a:ext cx="4114800" cy="29352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spcBef>
                <a:spcPts val="2500"/>
              </a:spcBef>
            </a:pPr>
            <a:r>
              <a:rPr lang="en-US" b="1" dirty="0"/>
              <a:t>Structured Prompt Design</a:t>
            </a:r>
          </a:p>
          <a:p>
            <a:pPr marL="0" lvl="1">
              <a:lnSpc>
                <a:spcPct val="110000"/>
              </a:lnSpc>
            </a:pPr>
            <a:r>
              <a:rPr lang="en-US" sz="1800" dirty="0"/>
              <a:t>Structured prompts define AI roles, output style, and task constraints for consistent content generation.</a:t>
            </a:r>
          </a:p>
          <a:p>
            <a:pPr>
              <a:lnSpc>
                <a:spcPct val="110000"/>
              </a:lnSpc>
              <a:spcBef>
                <a:spcPts val="2500"/>
              </a:spcBef>
            </a:pPr>
            <a:r>
              <a:rPr lang="en-US" b="1" dirty="0"/>
              <a:t>Explicit Instruction Benefits</a:t>
            </a:r>
          </a:p>
          <a:p>
            <a:pPr marL="0" lvl="1">
              <a:lnSpc>
                <a:spcPct val="110000"/>
              </a:lnSpc>
            </a:pPr>
            <a:r>
              <a:rPr lang="en-US" sz="1800" dirty="0"/>
              <a:t>Clear instructions reduce errors and improve relevance by specifying tone, audience, and goals.</a:t>
            </a:r>
          </a:p>
          <a:p>
            <a:pPr>
              <a:lnSpc>
                <a:spcPct val="110000"/>
              </a:lnSpc>
              <a:spcBef>
                <a:spcPts val="2500"/>
              </a:spcBef>
            </a:pPr>
            <a:r>
              <a:rPr lang="en-US" b="1" dirty="0"/>
              <a:t>Bridging AI and Usability</a:t>
            </a:r>
          </a:p>
          <a:p>
            <a:pPr marL="0" lvl="1">
              <a:lnSpc>
                <a:spcPct val="110000"/>
              </a:lnSpc>
            </a:pPr>
            <a:r>
              <a:rPr lang="en-US" sz="1800" dirty="0"/>
              <a:t>Effective prompt engineering connects AI capabilities with real-world content needs and usability.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E2CFBA7-6A83-6061-0EA9-5E14394E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31A513-7698-F4B0-F5F2-53B92518B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9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17B7CBFC-65A2-4AB4-BE48-C580D13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3429000"/>
            <a:ext cx="4347698" cy="1325564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2B40CBE-DEC8-4A9F-AF68-3DABE42C7E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9391" y="3546349"/>
            <a:ext cx="5474010" cy="2074927"/>
          </a:xfrm>
        </p:spPr>
        <p:txBody>
          <a:bodyPr/>
          <a:lstStyle/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Expanding Content Formats</a:t>
            </a:r>
          </a:p>
          <a:p>
            <a:pPr marL="0" lvl="1"/>
            <a:r>
              <a:rPr lang="en-US" dirty="0"/>
              <a:t>Adding social media threads and long-form articles can enhance content diversity and usability.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User Authentication Features</a:t>
            </a:r>
          </a:p>
          <a:p>
            <a:pPr marL="0" lvl="1"/>
            <a:r>
              <a:rPr lang="en-US" dirty="0"/>
              <a:t>User authentication and session history enable saving and revisiting generated content.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B0AAC49-9B82-060D-839C-3E2537CD8C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3164" b="23164"/>
          <a:stretch>
            <a:fillRect/>
          </a:stretch>
        </p:blipFill>
        <p:spPr/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7B56D-12BD-8828-6293-C24D5B540EBC}"/>
              </a:ext>
            </a:extLst>
          </p:cNvPr>
          <p:cNvSpPr txBox="1"/>
          <p:nvPr/>
        </p:nvSpPr>
        <p:spPr>
          <a:xfrm>
            <a:off x="458725" y="4754564"/>
            <a:ext cx="5920041" cy="207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Export and Sharing Options</a:t>
            </a:r>
          </a:p>
          <a:p>
            <a:pPr marL="0" lvl="1"/>
            <a:r>
              <a:rPr lang="en-US" dirty="0"/>
              <a:t>Export options like document downloads and direct copying improve user convenience.</a:t>
            </a:r>
          </a:p>
          <a:p>
            <a:pPr marL="285750" indent="-285750"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Analytics and Feedback</a:t>
            </a:r>
          </a:p>
          <a:p>
            <a:pPr marL="0" lvl="1"/>
            <a:r>
              <a:rPr lang="en-US" dirty="0"/>
              <a:t>Incorporating analytics and feedback mechanisms helps refine prompt quality over time.</a:t>
            </a:r>
          </a:p>
        </p:txBody>
      </p:sp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photo of Wall street sign&#10;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0E486CF-8877-4DB4-98D3-2CD9F1CB33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/>
          <a:p>
            <a:r>
              <a:rPr lang="en-US" dirty="0"/>
              <a:t>Dumisani Elton Malindi</a:t>
            </a:r>
          </a:p>
          <a:p>
            <a:r>
              <a:rPr lang="en-US" dirty="0">
                <a:hlinkClick r:id="rId3"/>
              </a:rPr>
              <a:t>Dumisani.Malindi@capaciti.org.za</a:t>
            </a:r>
            <a:endParaRPr lang="en-US" dirty="0"/>
          </a:p>
          <a:p>
            <a:r>
              <a:rPr lang="en-US" dirty="0"/>
              <a:t>0781169094</a:t>
            </a:r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.potx" id="{20737546-06B0-4BD7-AC56-F403EF86C0E3}" vid="{1EA85B44-1A53-4BBB-B1B2-A9A21AB62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{C1CA2521-9333-4B79-B0F5-2C0D7E92A778}TF76bfe6bd-a272-44a9-ad3e-da6a599998506a279e03_win32-cff128656382</Template>
  <TotalTime>91</TotalTime>
  <Words>463</Words>
  <Application>Microsoft Office PowerPoint</Application>
  <PresentationFormat>Widescreen</PresentationFormat>
  <Paragraphs>63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Selawik Semibold</vt:lpstr>
      <vt:lpstr>Source Sans Pro</vt:lpstr>
      <vt:lpstr>Source Sans Pro ExtraLight</vt:lpstr>
      <vt:lpstr>Office Theme</vt:lpstr>
      <vt:lpstr>AI CONTENT GENERATOR</vt:lpstr>
      <vt:lpstr>INTRO AND PROJECT CONTEXT</vt:lpstr>
      <vt:lpstr>Problem Statement</vt:lpstr>
      <vt:lpstr>Solution Overview</vt:lpstr>
      <vt:lpstr>Deployment Strategy</vt:lpstr>
      <vt:lpstr>Prompt Engineering Strategy</vt:lpstr>
      <vt:lpstr>Future Improvements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Dumisani Malindi</dc:creator>
  <cp:lastModifiedBy>Dumisani Malindi</cp:lastModifiedBy>
  <cp:revision>1</cp:revision>
  <dcterms:created xsi:type="dcterms:W3CDTF">2026-05-11T08:14:18Z</dcterms:created>
  <dcterms:modified xsi:type="dcterms:W3CDTF">2026-05-11T09:46:18Z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